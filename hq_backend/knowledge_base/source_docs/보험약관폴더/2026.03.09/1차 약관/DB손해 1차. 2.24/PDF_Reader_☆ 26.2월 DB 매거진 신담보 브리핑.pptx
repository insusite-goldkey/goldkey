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4"/>
  </p:notesMasterIdLst>
  <p:sldIdLst>
    <p:sldId id="276" r:id="rId2"/>
    <p:sldId id="13406" r:id="rId3"/>
    <p:sldId id="384" r:id="rId4"/>
    <p:sldId id="13409" r:id="rId5"/>
    <p:sldId id="13410" r:id="rId6"/>
    <p:sldId id="13414" r:id="rId7"/>
    <p:sldId id="13413" r:id="rId8"/>
    <p:sldId id="13407" r:id="rId9"/>
    <p:sldId id="13408" r:id="rId10"/>
    <p:sldId id="287" r:id="rId11"/>
    <p:sldId id="267" r:id="rId12"/>
    <p:sldId id="13411" r:id="rId13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93F"/>
    <a:srgbClr val="4C944C"/>
    <a:srgbClr val="003300"/>
    <a:srgbClr val="006600"/>
    <a:srgbClr val="008000"/>
    <a:srgbClr val="663300"/>
    <a:srgbClr val="B7D4B7"/>
    <a:srgbClr val="B2D1B2"/>
    <a:srgbClr val="A6A6A6"/>
    <a:srgbClr val="006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58479" autoAdjust="0"/>
  </p:normalViewPr>
  <p:slideViewPr>
    <p:cSldViewPr snapToGrid="0">
      <p:cViewPr varScale="1">
        <p:scale>
          <a:sx n="50" d="100"/>
          <a:sy n="50" d="100"/>
        </p:scale>
        <p:origin x="2222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F761D-3809-4A40-BF22-923F4532F94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53D2E-37F8-467C-85FF-7C3018C29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06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DB</a:t>
            </a:r>
            <a:r>
              <a:rPr lang="ko-KR" altLang="en-US" sz="1200" dirty="0"/>
              <a:t>손해보험을 사랑해주시는 영업 가족 여러분</a:t>
            </a:r>
            <a:r>
              <a:rPr lang="en-US" altLang="ko-KR" sz="1200" dirty="0"/>
              <a:t>, </a:t>
            </a:r>
            <a:r>
              <a:rPr lang="ko-KR" altLang="en-US" sz="1200" dirty="0"/>
              <a:t>안녕하십니까</a:t>
            </a:r>
            <a:r>
              <a:rPr lang="en-US" altLang="ko-KR" sz="1200" dirty="0"/>
              <a:t>?</a:t>
            </a:r>
            <a:br>
              <a:rPr lang="en-US" altLang="ko-KR" sz="1200" dirty="0"/>
            </a:br>
            <a:r>
              <a:rPr lang="en-US" altLang="ko-KR" sz="1200" dirty="0"/>
              <a:t>GA</a:t>
            </a:r>
            <a:r>
              <a:rPr lang="ko-KR" altLang="en-US" sz="1200" dirty="0"/>
              <a:t>영업지원파트 박민수 입니다</a:t>
            </a:r>
            <a:r>
              <a:rPr lang="en-US" altLang="ko-KR" sz="1200" dirty="0"/>
              <a:t>. 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23</a:t>
            </a:r>
            <a:r>
              <a:rPr lang="ko-KR" altLang="en-US" dirty="0"/>
              <a:t>일부터 신담보인 암</a:t>
            </a:r>
            <a:r>
              <a:rPr lang="en-US" altLang="ko-KR" dirty="0"/>
              <a:t>/</a:t>
            </a:r>
            <a:r>
              <a:rPr lang="ko-KR" altLang="en-US" dirty="0"/>
              <a:t>뇌심 </a:t>
            </a:r>
            <a:r>
              <a:rPr lang="ko-KR" altLang="en-US" dirty="0" err="1"/>
              <a:t>통합케어지원비가</a:t>
            </a:r>
            <a:r>
              <a:rPr lang="ko-KR" altLang="en-US" dirty="0"/>
              <a:t> 출시됨에 따라 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긴급하게 </a:t>
            </a:r>
            <a:r>
              <a:rPr lang="ko-KR" altLang="en-US" dirty="0" err="1"/>
              <a:t>신담보</a:t>
            </a:r>
            <a:r>
              <a:rPr lang="ko-KR" altLang="en-US" dirty="0"/>
              <a:t> 브리핑을 준비하였습니다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암뇌심</a:t>
            </a:r>
            <a:r>
              <a:rPr lang="ko-KR" altLang="en-US" dirty="0"/>
              <a:t> 보장의 마지막 퍼즐로 불릴 </a:t>
            </a:r>
            <a:r>
              <a:rPr lang="ko-KR" altLang="en-US" dirty="0" err="1"/>
              <a:t>통합케어지원비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지금부터 살펴 보겠습니다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7320D8-9A1D-4A8F-A435-D9630C373D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57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24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이후 </a:t>
            </a:r>
            <a:r>
              <a:rPr lang="ko-KR" altLang="en-US" dirty="0" err="1"/>
              <a:t>암뇌심보장이</a:t>
            </a:r>
            <a:r>
              <a:rPr lang="ko-KR" altLang="en-US" dirty="0"/>
              <a:t> </a:t>
            </a:r>
            <a:r>
              <a:rPr lang="ko-KR" altLang="en-US" dirty="0" err="1"/>
              <a:t>진단비</a:t>
            </a:r>
            <a:r>
              <a:rPr lang="ko-KR" altLang="en-US" dirty="0"/>
              <a:t> 시장에서 치료비 시장으로 전환되었고</a:t>
            </a:r>
            <a:endParaRPr lang="en-US" altLang="ko-KR" dirty="0"/>
          </a:p>
          <a:p>
            <a:r>
              <a:rPr lang="ko-KR" altLang="en-US" dirty="0"/>
              <a:t>치료비는 몇번의 개정을 통해 만기보장과</a:t>
            </a:r>
            <a:r>
              <a:rPr lang="en-US" altLang="ko-KR" dirty="0"/>
              <a:t> </a:t>
            </a:r>
            <a:r>
              <a:rPr lang="ko-KR" altLang="en-US" dirty="0"/>
              <a:t>회당 보장으로 안정화 되었습니다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여기에 </a:t>
            </a:r>
            <a:r>
              <a:rPr lang="en-US" altLang="ko-KR" dirty="0"/>
              <a:t>26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생활비 출시를 통해 빈틈 없는 보장을 이어가고 있는데요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여기에 마침표를 찍을 검사</a:t>
            </a:r>
            <a:r>
              <a:rPr lang="en-US" altLang="ko-KR" dirty="0"/>
              <a:t>, </a:t>
            </a:r>
            <a:r>
              <a:rPr lang="ko-KR" altLang="en-US" dirty="0"/>
              <a:t>간병</a:t>
            </a:r>
            <a:r>
              <a:rPr lang="en-US" altLang="ko-KR" dirty="0"/>
              <a:t>, </a:t>
            </a:r>
            <a:r>
              <a:rPr lang="ko-KR" altLang="en-US" dirty="0"/>
              <a:t>재활을 보장하는 </a:t>
            </a:r>
            <a:r>
              <a:rPr lang="ko-KR" altLang="en-US" dirty="0" err="1"/>
              <a:t>통합케어</a:t>
            </a:r>
            <a:r>
              <a:rPr lang="ko-KR" altLang="en-US" dirty="0"/>
              <a:t> 지원비가 출시 되었습니다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570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신담보는 기존 </a:t>
            </a:r>
            <a:r>
              <a:rPr lang="ko-KR" altLang="en-US" dirty="0" err="1"/>
              <a:t>암뇌심</a:t>
            </a:r>
            <a:r>
              <a:rPr lang="ko-KR" altLang="en-US" dirty="0"/>
              <a:t> 치료비와 생활비에서 </a:t>
            </a:r>
            <a:r>
              <a:rPr lang="ko-KR" altLang="en-US"/>
              <a:t>보장하지 </a:t>
            </a:r>
            <a:r>
              <a:rPr lang="ko-KR" altLang="en-US" smtClean="0"/>
              <a:t>않았던</a:t>
            </a:r>
            <a:endParaRPr lang="en-US" altLang="ko-KR" dirty="0"/>
          </a:p>
          <a:p>
            <a:r>
              <a:rPr lang="en-US" altLang="ko-KR" dirty="0"/>
              <a:t>MRI, </a:t>
            </a:r>
            <a:r>
              <a:rPr lang="ko-KR" altLang="en-US" dirty="0" err="1"/>
              <a:t>혈관조영술</a:t>
            </a:r>
            <a:r>
              <a:rPr lang="ko-KR" altLang="en-US" dirty="0"/>
              <a:t> 등의 검사와 간병 지원 그리고 재활치료</a:t>
            </a:r>
            <a:r>
              <a:rPr lang="en-US" altLang="ko-KR" dirty="0"/>
              <a:t>, </a:t>
            </a:r>
            <a:r>
              <a:rPr lang="ko-KR" altLang="en-US" dirty="0"/>
              <a:t>통증완화 치료를 보장합니다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206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세부적으로 살펴보겠습니다</a:t>
            </a:r>
            <a:r>
              <a:rPr lang="en-US" altLang="ko-KR" dirty="0"/>
              <a:t>. </a:t>
            </a:r>
            <a:r>
              <a:rPr lang="ko-KR" altLang="en-US" dirty="0"/>
              <a:t>암 통합 </a:t>
            </a:r>
            <a:r>
              <a:rPr lang="ko-KR" altLang="en-US" dirty="0" err="1"/>
              <a:t>케어지원비의</a:t>
            </a:r>
            <a:r>
              <a:rPr lang="ko-KR" altLang="en-US" dirty="0"/>
              <a:t> 경우</a:t>
            </a:r>
            <a:endParaRPr lang="en-US" altLang="ko-KR" dirty="0"/>
          </a:p>
          <a:p>
            <a:r>
              <a:rPr lang="ko-KR" altLang="en-US" smtClean="0"/>
              <a:t>먼저 암진단 </a:t>
            </a:r>
            <a:r>
              <a:rPr lang="ko-KR" altLang="en-US" dirty="0"/>
              <a:t>및 치료를 위한 </a:t>
            </a:r>
            <a:r>
              <a:rPr lang="en-US" altLang="ko-KR" dirty="0"/>
              <a:t>MRI </a:t>
            </a:r>
            <a:r>
              <a:rPr lang="ko-KR" altLang="en-US" dirty="0"/>
              <a:t>검사비를 지원하고</a:t>
            </a:r>
            <a:endParaRPr lang="en-US" altLang="ko-KR" dirty="0"/>
          </a:p>
          <a:p>
            <a:r>
              <a:rPr lang="ko-KR" altLang="en-US" smtClean="0"/>
              <a:t>암진단 </a:t>
            </a:r>
            <a:r>
              <a:rPr lang="ko-KR" altLang="en-US" dirty="0"/>
              <a:t>후 간병인을 사용했을 경우 </a:t>
            </a:r>
            <a:r>
              <a:rPr lang="ko-KR" altLang="en-US"/>
              <a:t>연간 </a:t>
            </a:r>
            <a:r>
              <a:rPr lang="ko-KR" altLang="en-US" smtClean="0"/>
              <a:t>간병사용금액 </a:t>
            </a:r>
            <a:r>
              <a:rPr lang="ko-KR" altLang="en-US" dirty="0"/>
              <a:t>구간별로 </a:t>
            </a:r>
            <a:r>
              <a:rPr lang="ko-KR" altLang="en-US"/>
              <a:t>최대 </a:t>
            </a:r>
            <a:r>
              <a:rPr lang="en-US" altLang="ko-KR" smtClean="0"/>
              <a:t>1</a:t>
            </a:r>
            <a:r>
              <a:rPr lang="ko-KR" altLang="en-US" smtClean="0"/>
              <a:t>천만원을 </a:t>
            </a:r>
            <a:r>
              <a:rPr lang="ko-KR" altLang="en-US" dirty="0"/>
              <a:t>보장하며</a:t>
            </a:r>
            <a:r>
              <a:rPr lang="en-US" altLang="ko-KR" dirty="0"/>
              <a:t>,</a:t>
            </a:r>
          </a:p>
          <a:p>
            <a:r>
              <a:rPr lang="ko-KR" altLang="en-US" smtClean="0"/>
              <a:t>암주요 </a:t>
            </a:r>
            <a:r>
              <a:rPr lang="ko-KR" altLang="en-US" dirty="0"/>
              <a:t>재활치료를 </a:t>
            </a:r>
            <a:r>
              <a:rPr lang="ko-KR" altLang="en-US" dirty="0" err="1"/>
              <a:t>받았을때</a:t>
            </a:r>
            <a:r>
              <a:rPr lang="ko-KR" altLang="en-US" dirty="0"/>
              <a:t> 연간 최대 </a:t>
            </a:r>
            <a:r>
              <a:rPr lang="en-US" altLang="ko-KR" dirty="0"/>
              <a:t>4</a:t>
            </a:r>
            <a:r>
              <a:rPr lang="ko-KR" altLang="en-US" dirty="0" err="1"/>
              <a:t>십만원</a:t>
            </a:r>
            <a:endParaRPr lang="en-US" altLang="ko-KR" dirty="0"/>
          </a:p>
          <a:p>
            <a:r>
              <a:rPr lang="ko-KR" altLang="en-US" smtClean="0"/>
              <a:t>마지막으로 암주요 </a:t>
            </a:r>
            <a:r>
              <a:rPr lang="ko-KR" altLang="en-US" dirty="0"/>
              <a:t>통증완화 치료를 받은 경우 최대 </a:t>
            </a:r>
            <a:r>
              <a:rPr lang="en-US" altLang="ko-KR" dirty="0"/>
              <a:t>3</a:t>
            </a:r>
            <a:r>
              <a:rPr lang="ko-KR" altLang="en-US" dirty="0"/>
              <a:t>십만원을 보장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626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뇌심 </a:t>
            </a:r>
            <a:r>
              <a:rPr lang="ko-KR" altLang="en-US" dirty="0" err="1"/>
              <a:t>통합케어</a:t>
            </a:r>
            <a:r>
              <a:rPr lang="ko-KR" altLang="en-US" dirty="0"/>
              <a:t> 지원비의 경우</a:t>
            </a:r>
            <a:endParaRPr lang="en-US" altLang="ko-KR" dirty="0"/>
          </a:p>
          <a:p>
            <a:r>
              <a:rPr lang="ko-KR" altLang="en-US" smtClean="0"/>
              <a:t>먼저 </a:t>
            </a:r>
            <a:r>
              <a:rPr lang="ko-KR" altLang="en-US" dirty="0" err="1"/>
              <a:t>뇌심질환</a:t>
            </a:r>
            <a:r>
              <a:rPr lang="ko-KR" altLang="en-US" dirty="0"/>
              <a:t> 진단 및 치료를 위해 </a:t>
            </a:r>
            <a:r>
              <a:rPr lang="en-US" altLang="ko-KR" dirty="0"/>
              <a:t>CT, MRI,</a:t>
            </a:r>
            <a:r>
              <a:rPr lang="ko-KR" altLang="en-US" dirty="0"/>
              <a:t> 초음파</a:t>
            </a:r>
            <a:r>
              <a:rPr lang="en-US" altLang="ko-KR" dirty="0"/>
              <a:t> </a:t>
            </a:r>
            <a:r>
              <a:rPr lang="ko-KR" altLang="en-US" dirty="0"/>
              <a:t>등의 검사를 </a:t>
            </a:r>
            <a:r>
              <a:rPr lang="ko-KR" altLang="en-US" err="1"/>
              <a:t>받았을때</a:t>
            </a:r>
            <a:r>
              <a:rPr lang="ko-KR" altLang="en-US"/>
              <a:t> </a:t>
            </a:r>
            <a:r>
              <a:rPr lang="ko-KR" altLang="en-US" smtClean="0"/>
              <a:t>치료행위별 각각 </a:t>
            </a:r>
            <a:r>
              <a:rPr lang="en-US" altLang="ko-KR" smtClean="0"/>
              <a:t>10</a:t>
            </a:r>
            <a:r>
              <a:rPr lang="ko-KR" altLang="en-US" smtClean="0"/>
              <a:t>만원 보장</a:t>
            </a:r>
            <a:r>
              <a:rPr lang="en-US" altLang="ko-KR" smtClean="0"/>
              <a:t>.</a:t>
            </a:r>
            <a:endParaRPr lang="en-US" altLang="ko-KR" dirty="0"/>
          </a:p>
          <a:p>
            <a:r>
              <a:rPr lang="ko-KR" altLang="en-US" smtClean="0"/>
              <a:t>뇌심질환 </a:t>
            </a:r>
            <a:r>
              <a:rPr lang="ko-KR" altLang="en-US" dirty="0"/>
              <a:t>진단 후 간병인을 사용했을 경우 </a:t>
            </a:r>
            <a:r>
              <a:rPr lang="ko-KR" altLang="en-US"/>
              <a:t>연간 </a:t>
            </a:r>
            <a:r>
              <a:rPr lang="ko-KR" altLang="en-US" smtClean="0"/>
              <a:t>간병사용금액 </a:t>
            </a:r>
            <a:r>
              <a:rPr lang="ko-KR" altLang="en-US" dirty="0"/>
              <a:t>구간별로 최대 </a:t>
            </a:r>
            <a:r>
              <a:rPr lang="en-US" altLang="ko-KR"/>
              <a:t>1</a:t>
            </a:r>
            <a:r>
              <a:rPr lang="ko-KR" altLang="en-US" smtClean="0"/>
              <a:t>천만원을 </a:t>
            </a:r>
            <a:r>
              <a:rPr lang="ko-KR" altLang="en-US" dirty="0"/>
              <a:t>보장하며</a:t>
            </a:r>
            <a:r>
              <a:rPr lang="en-US" altLang="ko-KR" dirty="0"/>
              <a:t>,</a:t>
            </a:r>
          </a:p>
          <a:p>
            <a:r>
              <a:rPr lang="ko-KR" altLang="en-US" smtClean="0"/>
              <a:t>뇌심질환 </a:t>
            </a:r>
            <a:r>
              <a:rPr lang="ko-KR" altLang="en-US" dirty="0"/>
              <a:t>주요 재활치료를 </a:t>
            </a:r>
            <a:r>
              <a:rPr lang="ko-KR" altLang="en-US" dirty="0" err="1"/>
              <a:t>받았을때</a:t>
            </a:r>
            <a:r>
              <a:rPr lang="ko-KR" altLang="en-US" dirty="0"/>
              <a:t> 연간 최대 </a:t>
            </a:r>
            <a:r>
              <a:rPr lang="en-US" altLang="ko-KR" dirty="0"/>
              <a:t>4</a:t>
            </a:r>
            <a:r>
              <a:rPr lang="ko-KR" altLang="en-US" dirty="0" err="1"/>
              <a:t>십만원</a:t>
            </a:r>
            <a:endParaRPr lang="en-US" altLang="ko-KR" dirty="0"/>
          </a:p>
          <a:p>
            <a:r>
              <a:rPr lang="ko-KR" altLang="en-US" smtClean="0"/>
              <a:t>마지막으로 뇌심질환 </a:t>
            </a:r>
            <a:r>
              <a:rPr lang="ko-KR" altLang="en-US" dirty="0"/>
              <a:t>진단 및 치료를 위해 </a:t>
            </a:r>
            <a:r>
              <a:rPr lang="ko-KR" altLang="en-US" dirty="0" err="1"/>
              <a:t>혈관조영술</a:t>
            </a:r>
            <a:r>
              <a:rPr lang="ko-KR" altLang="en-US" dirty="0"/>
              <a:t> 검사를 받은 경우 최대 </a:t>
            </a:r>
            <a:r>
              <a:rPr lang="en-US" altLang="ko-KR" dirty="0"/>
              <a:t>10</a:t>
            </a:r>
            <a:r>
              <a:rPr lang="ko-KR" altLang="en-US" dirty="0"/>
              <a:t>만원을 보장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860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 사례를 살펴 보면</a:t>
            </a:r>
            <a:endParaRPr lang="en-US" altLang="ko-KR" dirty="0"/>
          </a:p>
          <a:p>
            <a:r>
              <a:rPr lang="ko-KR" altLang="en-US" dirty="0"/>
              <a:t>유방암 환자가 수술 후 방사선 치료를 하고 있고</a:t>
            </a:r>
            <a:r>
              <a:rPr lang="en-US" altLang="ko-KR" dirty="0"/>
              <a:t>, </a:t>
            </a:r>
            <a:r>
              <a:rPr lang="ko-KR" altLang="en-US" dirty="0" err="1"/>
              <a:t>마약성</a:t>
            </a:r>
            <a:r>
              <a:rPr lang="ko-KR" altLang="en-US" dirty="0"/>
              <a:t> 진통제 사용 및 재활치료가 예상되는 경우에</a:t>
            </a:r>
            <a:endParaRPr lang="en-US" altLang="ko-KR" dirty="0"/>
          </a:p>
          <a:p>
            <a:r>
              <a:rPr lang="ko-KR" altLang="en-US" dirty="0"/>
              <a:t>기존의 주요치료비</a:t>
            </a:r>
            <a:r>
              <a:rPr lang="en-US" altLang="ko-KR" dirty="0"/>
              <a:t>, </a:t>
            </a:r>
            <a:r>
              <a:rPr lang="ko-KR" altLang="en-US" dirty="0"/>
              <a:t>생활비에서 받을 수 없었던</a:t>
            </a:r>
            <a:r>
              <a:rPr lang="en-US" altLang="ko-KR" dirty="0"/>
              <a:t> </a:t>
            </a:r>
            <a:r>
              <a:rPr lang="ko-KR" altLang="en-US" dirty="0"/>
              <a:t>통증완화치료</a:t>
            </a:r>
            <a:r>
              <a:rPr lang="en-US" altLang="ko-KR" dirty="0"/>
              <a:t>, </a:t>
            </a:r>
            <a:r>
              <a:rPr lang="ko-KR" altLang="en-US" dirty="0"/>
              <a:t>재활치료에 대한 추가 보장을 받을 수 있고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382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사례를 보면 뇌동맥류 환자가 </a:t>
            </a:r>
            <a:r>
              <a:rPr lang="ko-KR" altLang="en-US" dirty="0" err="1"/>
              <a:t>혈관조영술</a:t>
            </a:r>
            <a:r>
              <a:rPr lang="ko-KR" altLang="en-US" dirty="0"/>
              <a:t> 이후 클립 </a:t>
            </a:r>
            <a:r>
              <a:rPr lang="ko-KR" altLang="en-US" dirty="0" err="1"/>
              <a:t>결찰술을</a:t>
            </a:r>
            <a:r>
              <a:rPr lang="ko-KR" altLang="en-US" dirty="0"/>
              <a:t> 받고 간병인을 </a:t>
            </a:r>
            <a:r>
              <a:rPr lang="ko-KR" altLang="en-US" dirty="0" err="1"/>
              <a:t>사용예정이며</a:t>
            </a:r>
            <a:r>
              <a:rPr lang="en-US" altLang="ko-KR" dirty="0"/>
              <a:t>, </a:t>
            </a:r>
            <a:r>
              <a:rPr lang="ko-KR" altLang="en-US" dirty="0"/>
              <a:t>중환자실 치료까지 받는 경우</a:t>
            </a:r>
            <a:endParaRPr lang="en-US" altLang="ko-KR" dirty="0"/>
          </a:p>
          <a:p>
            <a:r>
              <a:rPr lang="ko-KR" altLang="en-US" dirty="0"/>
              <a:t>기존의 치료비</a:t>
            </a:r>
            <a:r>
              <a:rPr lang="en-US" altLang="ko-KR" dirty="0"/>
              <a:t>, </a:t>
            </a:r>
            <a:r>
              <a:rPr lang="ko-KR" altLang="en-US" dirty="0"/>
              <a:t>생활비 외에 </a:t>
            </a:r>
            <a:r>
              <a:rPr lang="ko-KR" altLang="en-US" dirty="0" err="1"/>
              <a:t>혈관조영술과</a:t>
            </a:r>
            <a:r>
              <a:rPr lang="ko-KR" altLang="en-US" dirty="0"/>
              <a:t> 간병인 비용을 추가보장 받을 수 있는 장점이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446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그러면 이번 신담보는 어떻게 판매하는 것이 좋을까요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첫번째 판매포인트로 </a:t>
            </a:r>
            <a:r>
              <a:rPr lang="ko-KR" altLang="en-US" dirty="0" err="1"/>
              <a:t>부담없는</a:t>
            </a:r>
            <a:r>
              <a:rPr lang="ko-KR" altLang="en-US" dirty="0"/>
              <a:t> 보험료를 말씀 드릴 수 있겠는데요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암은 치료비 대비 </a:t>
            </a:r>
            <a:r>
              <a:rPr lang="en-US" altLang="ko-KR" dirty="0"/>
              <a:t>92% </a:t>
            </a:r>
            <a:r>
              <a:rPr lang="ko-KR" altLang="en-US" dirty="0"/>
              <a:t>저렴하고 뇌심은 치료비 대비 </a:t>
            </a:r>
            <a:r>
              <a:rPr lang="en-US" altLang="ko-KR" dirty="0"/>
              <a:t>73% </a:t>
            </a:r>
            <a:r>
              <a:rPr lang="ko-KR" altLang="en-US" dirty="0"/>
              <a:t>저렴합니다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411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두번째 </a:t>
            </a:r>
            <a:r>
              <a:rPr lang="ko-KR" altLang="en-US" smtClean="0"/>
              <a:t>판매포인트는 보장공백 </a:t>
            </a:r>
            <a:r>
              <a:rPr lang="ko-KR" altLang="en-US" dirty="0"/>
              <a:t>해소했다는 점을 들 수 있는데요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타사와 비교해 보시면 </a:t>
            </a:r>
            <a:r>
              <a:rPr lang="en-US" altLang="ko-KR" dirty="0"/>
              <a:t>a</a:t>
            </a:r>
            <a:r>
              <a:rPr lang="ko-KR" altLang="en-US" dirty="0"/>
              <a:t>사 </a:t>
            </a:r>
            <a:r>
              <a:rPr lang="en-US" altLang="ko-KR" dirty="0"/>
              <a:t>b</a:t>
            </a:r>
            <a:r>
              <a:rPr lang="ko-KR" altLang="en-US" dirty="0"/>
              <a:t>사 모두 검사 간병 재활을 보장하는 통합 담보는 없으며 </a:t>
            </a:r>
            <a:endParaRPr lang="en-US" altLang="ko-KR" dirty="0"/>
          </a:p>
          <a:p>
            <a:r>
              <a:rPr lang="en-US" altLang="ko-KR" dirty="0"/>
              <a:t>C</a:t>
            </a:r>
            <a:r>
              <a:rPr lang="ko-KR" altLang="en-US" dirty="0"/>
              <a:t>사의 경우에도 간병인지원과 혈관 조영술은 보장하지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685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보장 공백해소가 중요한 이유는 여기에 있습니다</a:t>
            </a:r>
            <a:r>
              <a:rPr lang="en-US" altLang="ko-KR" smtClean="0"/>
              <a:t>. </a:t>
            </a:r>
          </a:p>
          <a:p>
            <a:r>
              <a:rPr lang="ko-KR" altLang="en-US" smtClean="0"/>
              <a:t>일반적으로 </a:t>
            </a:r>
            <a:r>
              <a:rPr lang="ko-KR" altLang="en-US" dirty="0"/>
              <a:t>우리가 암</a:t>
            </a:r>
            <a:r>
              <a:rPr lang="en-US" altLang="ko-KR" dirty="0"/>
              <a:t>. </a:t>
            </a:r>
            <a:r>
              <a:rPr lang="ko-KR" altLang="en-US" dirty="0" err="1"/>
              <a:t>뇌심질환에</a:t>
            </a:r>
            <a:r>
              <a:rPr lang="ko-KR" altLang="en-US" dirty="0"/>
              <a:t> 대한 의심이 </a:t>
            </a:r>
            <a:r>
              <a:rPr lang="ko-KR" altLang="en-US" dirty="0" err="1"/>
              <a:t>된다라고</a:t>
            </a:r>
            <a:r>
              <a:rPr lang="ko-KR" altLang="en-US" dirty="0"/>
              <a:t> 하면</a:t>
            </a:r>
            <a:r>
              <a:rPr lang="en-US" altLang="ko-KR" dirty="0"/>
              <a:t>, </a:t>
            </a:r>
            <a:r>
              <a:rPr lang="ko-KR" altLang="en-US" dirty="0"/>
              <a:t>먼저 검사를 하게 되고</a:t>
            </a:r>
            <a:r>
              <a:rPr lang="en-US" altLang="ko-KR" dirty="0"/>
              <a:t>, </a:t>
            </a:r>
            <a:r>
              <a:rPr lang="ko-KR" altLang="en-US" dirty="0"/>
              <a:t>진단이 확정 되면 수술</a:t>
            </a:r>
            <a:r>
              <a:rPr lang="en-US" altLang="ko-KR" dirty="0"/>
              <a:t>, </a:t>
            </a:r>
            <a:r>
              <a:rPr lang="ko-KR" altLang="en-US" dirty="0"/>
              <a:t>약물</a:t>
            </a:r>
            <a:r>
              <a:rPr lang="en-US" altLang="ko-KR" dirty="0"/>
              <a:t>, </a:t>
            </a:r>
            <a:r>
              <a:rPr lang="ko-KR" altLang="en-US" dirty="0"/>
              <a:t>방사선 등의 치료를 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과정 중에 간병이 필요하게 되고 이후 재활치료 및 통증 완화 치료를 하게 되면 생활비를 걱정하게 되는 상황이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그동안 치료비와 생활비로 </a:t>
            </a:r>
            <a:r>
              <a:rPr lang="ko-KR" altLang="en-US" dirty="0" err="1"/>
              <a:t>암뇌심</a:t>
            </a:r>
            <a:r>
              <a:rPr lang="ko-KR" altLang="en-US" dirty="0"/>
              <a:t> 보장을 준비해왔지만 부족했던 부분이 바로 검사</a:t>
            </a:r>
            <a:r>
              <a:rPr lang="en-US" altLang="ko-KR" dirty="0"/>
              <a:t>, </a:t>
            </a:r>
            <a:r>
              <a:rPr lang="ko-KR" altLang="en-US" dirty="0"/>
              <a:t>간병</a:t>
            </a:r>
            <a:r>
              <a:rPr lang="en-US" altLang="ko-KR" dirty="0"/>
              <a:t>, </a:t>
            </a:r>
            <a:r>
              <a:rPr lang="ko-KR" altLang="en-US" dirty="0"/>
              <a:t>재활에 관한 부분인데 </a:t>
            </a:r>
            <a:endParaRPr lang="en-US" altLang="ko-KR" dirty="0"/>
          </a:p>
          <a:p>
            <a:r>
              <a:rPr lang="ko-KR" altLang="en-US" dirty="0"/>
              <a:t>이 부분의 빈틈을 채워주는 담보가 바로 </a:t>
            </a:r>
            <a:r>
              <a:rPr lang="ko-KR" altLang="en-US" err="1"/>
              <a:t>암뇌심</a:t>
            </a:r>
            <a:r>
              <a:rPr lang="ko-KR" altLang="en-US"/>
              <a:t> </a:t>
            </a:r>
            <a:r>
              <a:rPr lang="ko-KR" altLang="en-US" smtClean="0"/>
              <a:t>통합케어지원비인 것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53D2E-37F8-467C-85FF-7C3018C29FF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454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세부 보장 </a:t>
            </a:r>
            <a:r>
              <a:rPr lang="ko-KR" altLang="en-US"/>
              <a:t>중 </a:t>
            </a:r>
            <a:r>
              <a:rPr lang="ko-KR" altLang="en-US" smtClean="0"/>
              <a:t>간병인 사용 입원 지원비는 연간 </a:t>
            </a:r>
            <a:r>
              <a:rPr lang="ko-KR" altLang="en-US" dirty="0"/>
              <a:t>간병인 사용금액이 </a:t>
            </a:r>
            <a:r>
              <a:rPr lang="en-US" altLang="ko-KR" dirty="0"/>
              <a:t>100</a:t>
            </a:r>
            <a:r>
              <a:rPr lang="ko-KR" altLang="en-US" dirty="0"/>
              <a:t>만원이 넘어가면 </a:t>
            </a:r>
            <a:r>
              <a:rPr lang="en-US" altLang="ko-KR" dirty="0"/>
              <a:t>50%</a:t>
            </a:r>
            <a:r>
              <a:rPr lang="ko-KR" altLang="en-US"/>
              <a:t>를 </a:t>
            </a:r>
            <a:endParaRPr lang="en-US" altLang="ko-KR" smtClean="0"/>
          </a:p>
          <a:p>
            <a:r>
              <a:rPr lang="ko-KR" altLang="en-US" smtClean="0"/>
              <a:t>구간별로 지원하는 일명</a:t>
            </a:r>
            <a:r>
              <a:rPr lang="en-US" altLang="ko-KR" smtClean="0"/>
              <a:t>, </a:t>
            </a:r>
            <a:r>
              <a:rPr lang="ko-KR" altLang="en-US" smtClean="0"/>
              <a:t>간병 페이백이라고 불린 보장인데요</a:t>
            </a:r>
            <a:r>
              <a:rPr lang="en-US" altLang="ko-KR" smtClean="0"/>
              <a:t>. </a:t>
            </a:r>
          </a:p>
          <a:p>
            <a:r>
              <a:rPr lang="ko-KR" altLang="en-US" smtClean="0"/>
              <a:t>암뇌심 </a:t>
            </a:r>
            <a:r>
              <a:rPr lang="ko-KR" altLang="en-US" dirty="0"/>
              <a:t>질환에서 필수적 담보 </a:t>
            </a:r>
            <a:r>
              <a:rPr lang="ko-KR" altLang="en-US"/>
              <a:t>였지만 </a:t>
            </a:r>
            <a:r>
              <a:rPr lang="ko-KR" altLang="en-US" smtClean="0"/>
              <a:t>보험료 </a:t>
            </a:r>
            <a:r>
              <a:rPr lang="ko-KR" altLang="en-US" dirty="0"/>
              <a:t>때문에 가입을 망설이신 </a:t>
            </a:r>
            <a:r>
              <a:rPr lang="ko-KR" altLang="en-US"/>
              <a:t>분들이 </a:t>
            </a:r>
            <a:r>
              <a:rPr lang="ko-KR" altLang="en-US" smtClean="0"/>
              <a:t>많으셨을 겁니다</a:t>
            </a:r>
            <a:r>
              <a:rPr lang="en-US" altLang="ko-KR" smtClean="0"/>
              <a:t>.</a:t>
            </a:r>
            <a:endParaRPr lang="en-US" altLang="ko-KR" dirty="0"/>
          </a:p>
          <a:p>
            <a:r>
              <a:rPr lang="ko-KR" altLang="en-US"/>
              <a:t>기존 </a:t>
            </a:r>
            <a:r>
              <a:rPr lang="ko-KR" altLang="en-US" smtClean="0"/>
              <a:t>보장에서 보장범위를 </a:t>
            </a:r>
            <a:r>
              <a:rPr lang="ko-KR" altLang="en-US" dirty="0" err="1"/>
              <a:t>암뇌심으로</a:t>
            </a:r>
            <a:r>
              <a:rPr lang="ko-KR" altLang="en-US" dirty="0"/>
              <a:t> 줄여 보험료를 대폭 낮추고 </a:t>
            </a:r>
            <a:endParaRPr lang="en-US" altLang="ko-KR" dirty="0"/>
          </a:p>
          <a:p>
            <a:r>
              <a:rPr lang="ko-KR" altLang="en-US" dirty="0"/>
              <a:t>간병인 사용일당과 누적을 보지 않기 때문에 부담없이 가입할 수 있는 </a:t>
            </a:r>
            <a:r>
              <a:rPr lang="ko-KR" altLang="en-US"/>
              <a:t>핵심 </a:t>
            </a:r>
            <a:r>
              <a:rPr lang="ko-KR" altLang="en-US" smtClean="0"/>
              <a:t>보장이라고 </a:t>
            </a:r>
            <a:r>
              <a:rPr lang="ko-KR" altLang="en-US" dirty="0"/>
              <a:t>볼 수 있겠습니다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53D2E-37F8-467C-85FF-7C3018C29FF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71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기존 </a:t>
            </a:r>
            <a:r>
              <a:rPr lang="ko-KR" altLang="en-US" dirty="0"/>
              <a:t>치료비만 가입한 고객들에게는 </a:t>
            </a:r>
            <a:r>
              <a:rPr lang="ko-KR" altLang="en-US"/>
              <a:t>실속형으로 </a:t>
            </a:r>
            <a:r>
              <a:rPr lang="ko-KR" altLang="en-US" smtClean="0"/>
              <a:t>암뇌심케어지원비와 생활비 </a:t>
            </a:r>
            <a:r>
              <a:rPr lang="en-US" altLang="ko-KR" smtClean="0"/>
              <a:t>2</a:t>
            </a:r>
            <a:r>
              <a:rPr lang="ko-KR" altLang="en-US" smtClean="0"/>
              <a:t>만원대 보장을 추천드리고 </a:t>
            </a:r>
            <a:endParaRPr lang="en-US" altLang="ko-KR" dirty="0"/>
          </a:p>
          <a:p>
            <a:r>
              <a:rPr lang="ko-KR" altLang="en-US" dirty="0"/>
              <a:t>치료비 </a:t>
            </a:r>
            <a:r>
              <a:rPr lang="ko-KR" altLang="en-US" dirty="0" err="1"/>
              <a:t>미가입</a:t>
            </a:r>
            <a:r>
              <a:rPr lang="ko-KR" altLang="en-US" dirty="0"/>
              <a:t> 고객은 </a:t>
            </a:r>
            <a:r>
              <a:rPr lang="ko-KR" altLang="en-US"/>
              <a:t>표준형으로 </a:t>
            </a:r>
            <a:r>
              <a:rPr lang="ko-KR" altLang="en-US" smtClean="0"/>
              <a:t>지원비와 치료비 보장</a:t>
            </a:r>
            <a:endParaRPr lang="en-US" altLang="ko-KR" dirty="0"/>
          </a:p>
          <a:p>
            <a:r>
              <a:rPr lang="ko-KR" altLang="en-US" dirty="0"/>
              <a:t>과거 </a:t>
            </a:r>
            <a:r>
              <a:rPr lang="ko-KR" altLang="en-US" dirty="0" err="1"/>
              <a:t>진단비</a:t>
            </a:r>
            <a:r>
              <a:rPr lang="ko-KR" altLang="en-US" dirty="0"/>
              <a:t> 위주 가입 고객에게는 지원비</a:t>
            </a:r>
            <a:r>
              <a:rPr lang="en-US" altLang="ko-KR" dirty="0"/>
              <a:t>, </a:t>
            </a:r>
            <a:r>
              <a:rPr lang="ko-KR" altLang="en-US" dirty="0"/>
              <a:t>치료비</a:t>
            </a:r>
            <a:r>
              <a:rPr lang="en-US" altLang="ko-KR" dirty="0"/>
              <a:t>, </a:t>
            </a:r>
            <a:r>
              <a:rPr lang="ko-KR" altLang="en-US" dirty="0"/>
              <a:t>생활비를 모두 설계하여 보장공백을 없애는 </a:t>
            </a:r>
            <a:endParaRPr lang="en-US" altLang="ko-KR" dirty="0"/>
          </a:p>
          <a:p>
            <a:r>
              <a:rPr lang="ko-KR" altLang="en-US" dirty="0" err="1"/>
              <a:t>올케어형</a:t>
            </a:r>
            <a:r>
              <a:rPr lang="ko-KR" altLang="en-US" dirty="0"/>
              <a:t> 설계를 추천 드립니다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이상 </a:t>
            </a:r>
            <a:r>
              <a:rPr lang="en-US" altLang="ko-KR" dirty="0"/>
              <a:t>DB </a:t>
            </a:r>
            <a:r>
              <a:rPr lang="ko-KR" altLang="en-US" dirty="0"/>
              <a:t>매거진 </a:t>
            </a:r>
            <a:r>
              <a:rPr lang="ko-KR" altLang="en-US" err="1"/>
              <a:t>신담보</a:t>
            </a:r>
            <a:r>
              <a:rPr lang="ko-KR" altLang="en-US"/>
              <a:t> </a:t>
            </a:r>
            <a:r>
              <a:rPr lang="ko-KR" altLang="en-US" smtClean="0"/>
              <a:t>브리핑이었습니다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8F85-CD61-4915-863B-A6DCB22FC30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50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12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91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52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2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97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8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94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7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24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26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66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836C3A03-9318-CFC6-95DA-47D93FDA73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" y="-2225"/>
            <a:ext cx="990716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A1548D-3867-929C-9B9F-4B6EDF148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3021834"/>
            <a:ext cx="6812626" cy="62787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6838"/>
                </a:solidFill>
                <a:latin typeface="DB고딕 B" panose="02020503020101020101" pitchFamily="18" charset="-127"/>
                <a:ea typeface="DB고딕 B" panose="02020503020101020101" pitchFamily="18" charset="-127"/>
              </a:defRPr>
            </a:lvl1pPr>
          </a:lstStyle>
          <a:p>
            <a:r>
              <a:rPr lang="en-US" altLang="ko-KR" dirty="0"/>
              <a:t>DB</a:t>
            </a:r>
            <a:r>
              <a:rPr lang="ko-KR" altLang="en-US" dirty="0"/>
              <a:t>손해보험 </a:t>
            </a:r>
            <a:r>
              <a:rPr lang="en-US" altLang="ko-KR" dirty="0"/>
              <a:t>PPT</a:t>
            </a:r>
            <a:r>
              <a:rPr lang="ko-KR" altLang="en-US" dirty="0"/>
              <a:t> 템플릿 표준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FFD935-5981-9421-E6EB-E222B292AA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319" y="2656814"/>
            <a:ext cx="5407776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900">
                <a:solidFill>
                  <a:srgbClr val="006838"/>
                </a:solidFill>
                <a:latin typeface="DB고딕 B" panose="02020503020101020101" pitchFamily="18" charset="-127"/>
                <a:ea typeface="DB고딕 B" panose="0202050302010102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VI(Visual Identity) </a:t>
            </a:r>
            <a:r>
              <a:rPr lang="ko-KR" altLang="en-US" dirty="0"/>
              <a:t>가이드 적용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249A06-EBDA-DF06-535D-AC19B79D5E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31" y="327051"/>
            <a:ext cx="1444857" cy="5445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50B698-F175-BB34-5BF6-DB01A04946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57" y="389441"/>
            <a:ext cx="1025813" cy="388041"/>
          </a:xfrm>
          <a:prstGeom prst="rect">
            <a:avLst/>
          </a:prstGeom>
        </p:spPr>
      </p:pic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711DF9DF-A0AF-AF67-ABF4-FE62B4899EB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6320" y="3854955"/>
            <a:ext cx="2752527" cy="2657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2023.11.01</a:t>
            </a:r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64176B3-4713-4BBE-5258-564FAA4A473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6320" y="4133476"/>
            <a:ext cx="2357834" cy="265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DB고딕 M" panose="02020503020101020101" pitchFamily="18" charset="-127"/>
                <a:ea typeface="DB고딕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홍보파트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F17DF5E-D2CF-6607-1535-AE3BB58296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5168" y="6515356"/>
            <a:ext cx="3289601" cy="24246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Copyright© 2023 All rights reserved       www.dbins.com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042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55156-8D10-4092-8851-A1A4518BA367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20720-CE6D-43E9-814F-2F6CC6788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00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8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30195-5725-FA77-5A25-560BC2080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31" y="2962043"/>
            <a:ext cx="8384770" cy="1390175"/>
          </a:xfrm>
        </p:spPr>
        <p:txBody>
          <a:bodyPr>
            <a:normAutofit/>
          </a:bodyPr>
          <a:lstStyle/>
          <a:p>
            <a:r>
              <a:rPr lang="en-US" altLang="ko-KR" b="1" dirty="0"/>
              <a:t>‘26. 2</a:t>
            </a:r>
            <a:r>
              <a:rPr lang="ko-KR" altLang="en-US" b="1" dirty="0"/>
              <a:t>월 </a:t>
            </a:r>
            <a:r>
              <a:rPr lang="ko-KR" altLang="en-US" b="1" dirty="0" err="1"/>
              <a:t>신담보</a:t>
            </a:r>
            <a:r>
              <a:rPr lang="ko-KR" altLang="en-US" b="1" dirty="0"/>
              <a:t> 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 </a:t>
            </a:r>
            <a:r>
              <a:rPr lang="ko-KR" altLang="en-US" b="1" dirty="0"/>
              <a:t>암</a:t>
            </a:r>
            <a:r>
              <a:rPr lang="en-US" altLang="ko-KR" b="1" dirty="0"/>
              <a:t>/</a:t>
            </a:r>
            <a:r>
              <a:rPr lang="ko-KR" altLang="en-US" b="1" dirty="0"/>
              <a:t>뇌</a:t>
            </a:r>
            <a:r>
              <a:rPr lang="en-US" altLang="ko-KR" b="1" dirty="0"/>
              <a:t>.</a:t>
            </a:r>
            <a:r>
              <a:rPr lang="ko-KR" altLang="en-US" b="1" dirty="0"/>
              <a:t>심 </a:t>
            </a:r>
            <a:r>
              <a:rPr lang="ko-KR" altLang="en-US" b="1" dirty="0" err="1"/>
              <a:t>통합케어지원비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6D8186-58E5-585F-6A2D-BB9F9850C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187" y="2386032"/>
            <a:ext cx="6655724" cy="365125"/>
          </a:xfrm>
        </p:spPr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매거진 </a:t>
            </a:r>
            <a:r>
              <a:rPr lang="en-US" altLang="ko-KR" dirty="0"/>
              <a:t>– </a:t>
            </a:r>
            <a:r>
              <a:rPr lang="ko-KR" altLang="en-US" dirty="0" err="1"/>
              <a:t>신담보</a:t>
            </a:r>
            <a:r>
              <a:rPr lang="ko-KR" altLang="en-US" dirty="0"/>
              <a:t> 브리핑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5ED929-2248-2A93-5491-BC63B41D22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188" y="4073698"/>
            <a:ext cx="3387726" cy="26577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2026. 2. 19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91BDACB-07AF-C374-00D1-A258C5BA89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188" y="4352219"/>
            <a:ext cx="2901950" cy="26511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GA</a:t>
            </a:r>
            <a:r>
              <a:rPr lang="ko-KR" altLang="en-US" dirty="0"/>
              <a:t>영업지원파트</a:t>
            </a:r>
          </a:p>
        </p:txBody>
      </p:sp>
    </p:spTree>
    <p:extLst>
      <p:ext uri="{BB962C8B-B14F-4D97-AF65-F5344CB8AC3E}">
        <p14:creationId xmlns:p14="http://schemas.microsoft.com/office/powerpoint/2010/main" val="406924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B8E4A4D-8A29-4132-8C75-D23765FAB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7" y="330203"/>
            <a:ext cx="9759826" cy="609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45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2E66686-2B02-443A-944D-7296D55FE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8" y="216129"/>
            <a:ext cx="9547163" cy="64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8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F31495-D6CC-4D5A-A0F5-2D79A76DF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8" y="146019"/>
            <a:ext cx="9547163" cy="65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7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E941696-6D08-4B96-809D-BD6BA784D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48" y="0"/>
            <a:ext cx="9487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3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FEDC9D-1964-4A14-B5C1-FA1851FF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8" y="63716"/>
            <a:ext cx="9547163" cy="67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6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2E1B260-69F0-45A6-9E27-28E91473E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8" y="63716"/>
            <a:ext cx="9547163" cy="67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1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F49433E-C0D3-4857-BE7F-00D2528CA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8" y="69813"/>
            <a:ext cx="9547163" cy="67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2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0818F18-15D8-4CCA-B919-8F537B111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21" y="249660"/>
            <a:ext cx="9559357" cy="63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1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858126D-682F-40F8-B758-F3054CA37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1" y="33233"/>
            <a:ext cx="9699577" cy="67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D7AF1D6-B4ED-45E8-8B00-7B0EF0BB7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1" y="33233"/>
            <a:ext cx="9699577" cy="67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7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FB9B5E-C7BC-49DB-8E8C-860DD8578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8" y="112488"/>
            <a:ext cx="9547163" cy="66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968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14809</TotalTime>
  <Words>542</Words>
  <Application>Microsoft Office PowerPoint</Application>
  <PresentationFormat>A4 용지(210x297mm)</PresentationFormat>
  <Paragraphs>67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DB고딕 B</vt:lpstr>
      <vt:lpstr>DB고딕 M</vt:lpstr>
      <vt:lpstr>맑은 고딕</vt:lpstr>
      <vt:lpstr>Arial</vt:lpstr>
      <vt:lpstr>Calibri</vt:lpstr>
      <vt:lpstr>Calibri Light</vt:lpstr>
      <vt:lpstr>1_Office 테마</vt:lpstr>
      <vt:lpstr>‘26. 2월 신담보   암/뇌.심 통합케어지원비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배상범</dc:creator>
  <cp:lastModifiedBy>박민수</cp:lastModifiedBy>
  <cp:revision>1028</cp:revision>
  <cp:lastPrinted>2026-02-13T04:52:42Z</cp:lastPrinted>
  <dcterms:created xsi:type="dcterms:W3CDTF">2025-01-03T09:51:25Z</dcterms:created>
  <dcterms:modified xsi:type="dcterms:W3CDTF">2026-02-19T08:07:35Z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eyJub2RlMSI6eyJkc2QiOiIwMTAwMDAwMDAwMDAyMjIyIiwibG9nVGltZSI6IjIwMjYtMDItMTlUMDE6NTQ6MjZaIiwicElEIjoxLCJ0cmFjZUlkIjoiQTIzNTQ1NDRFNjU4NEVBNjhBQjFDNTMyNjkyRDRFNTQiLCJ1c2VyQ29kZSI6IjExMDYxMjgwIn0sIm5vZGUyIjp7ImRzZCI6IjAxMDAwMDAwMDAwMDIyMjIiLCJsb2dUaW1lIjoiMjA</vt:lpwstr>
  </property>
</Properties>
</file>